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VOUS — ouverture (45 s).</a:t>
            </a:r>
          </a:p>
          <a:p/>
          <a:p>
            <a:r>
              <a:t>Debout. Regard salle. Ne lisez pas le titre.</a:t>
            </a:r>
          </a:p>
          <a:p/>
          <a:p>
            <a:r>
              <a:t>« Ce matin, si le serveur métier d'une agence s'arrête à 7 h 40, comment le savons-nous ?</a:t>
            </a:r>
          </a:p>
          <a:p>
            <a:r>
              <a:t>Parce qu'un utilisateur appelle — ou parce que la machine nous a déjà parlé ? »</a:t>
            </a:r>
          </a:p>
          <a:p/>
          <a:p>
            <a:r>
              <a:t>Présentez l'interne par son prénom. « Elle va vous montrer ce qui tourne sur le poste.</a:t>
            </a:r>
          </a:p>
          <a:p>
            <a:r>
              <a:t>Moi, ce qui se passe une fois le message arrivé chez nous. On se passe le relais. »</a:t>
            </a:r>
          </a:p>
          <a:p/>
          <a:p>
            <a:r>
              <a:t>Durée promise : 25 minutes + questions. Tenez-la.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ENSEMBLE — 40 s. VOUS lisez les quatre lignes. INTERNE hoche la tête sur « deux voix ».</a:t>
            </a:r>
          </a:p>
          <a:p/>
          <a:p>
            <a:r>
              <a:t>Phrase de clôture : « Si une question porte sur l'agent, elle lui revient. Si elle porte sur la console, elle me revient.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VOUS — 2 min. Ton grave, pas agressif envers l'existant.</a:t>
            </a:r>
          </a:p>
          <a:p/>
          <a:p>
            <a:r>
              <a:t>« Personne ici n'a mal fait son travail. L'outil n'était plus à la taille du parc. »</a:t>
            </a:r>
          </a:p>
          <a:p/>
          <a:p>
            <a:r>
              <a:t>Ne citez pas FS0. Ne citez pas GitHub. Restez métier.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VOUS — 90 s. Pointez gauche → droite.</a:t>
            </a:r>
          </a:p>
          <a:p/>
          <a:p>
            <a:r>
              <a:t>« Les données ne vont que dans ce sens pour l'instant. La console ne parle jamais à l'agent. Elle nous demande, à nous. »</a:t>
            </a:r>
          </a:p>
          <a:p/>
          <a:p>
            <a:r>
              <a:t>Puis : « Je te passe la parole. Tu es sur la machine.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INTERNE — 10 s. Sourire. « Merci. On quitte le datacentre. On est sur le poste. »</a:t>
            </a:r>
          </a:p>
          <a:p/>
          <a:p>
            <a:r>
              <a:t>Ne commencez pas par l'architecture. Commencez par : « Un seul programme. Un seul processus.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INTERNE — 2 min 30. Lent. Les quatre cartes sont le contrat.</a:t>
            </a:r>
          </a:p>
          <a:p/>
          <a:p>
            <a:r>
              <a:t>Si on vous coupe : « On y revient — d'abord le badge. »</a:t>
            </a:r>
          </a:p>
          <a:p/>
          <a:p>
            <a:r>
              <a:t>Analogie : machine_id = numéro de châssis. agent_id + clé = badge imprimé à l'accueil le jour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INTERNE — 2 min.</a:t>
            </a:r>
          </a:p>
          <a:p/>
          <a:p>
            <a:r>
              <a:t>« Un laptop trouvé dans un tiroir ne rejoint pas le parc. Il lui faut un jeton qu'un admin a émis. »</a:t>
            </a:r>
          </a:p>
          <a:p/>
          <a:p>
            <a:r>
              <a:t>Démo possible : python agent/src/cli.py enroll — ou le script de démo. Si la démo plante, cette slide suffit.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INTERNE — 2 min 30. C'est votre slide la plus technique. Une analogie :</a:t>
            </a:r>
          </a:p>
          <a:p/>
          <a:p>
            <a:r>
              <a:t>« Le battement, c'est la fiche santé. Pas un ping ICMP lancé depuis le datacentre. »</a:t>
            </a:r>
          </a:p>
          <a:p/>
          <a:p>
            <a:r>
              <a:t>Puis : « Je vous passe le relais dès que le paquet a traversé.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INTERNE — 2 min. Puis passation, phrase écrite :</a:t>
            </a:r>
          </a:p>
          <a:p/>
          <a:p>
            <a:r>
              <a:t>« Le paquet est arrivé. La machine a parlé. Maintenant : qu'est-ce qu'on en fait, au centre ? »</a:t>
            </a:r>
          </a:p>
          <a:p/>
          <a:p>
            <a:r>
              <a:t>Vous vous levez / vous avancez. Elle recule d'un pas.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VOUS — 8 s. « Merci. On est de retour dans la salle. L'hôte n'est plus un fichier. C'est une fiche.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VOUS — 2 min. Skip Loki/n8n sauf question.</a:t>
            </a:r>
          </a:p>
          <a:p/>
          <a:p>
            <a:r>
              <a:t>« Si on vous demande Kubernetes : Lot suivant. Aujourd'hui on prouve le métier, pas l'orchestrateur.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VOUS — 2 min 30. Si démo live : ces quatre clics. Sinon restez ici.</a:t>
            </a:r>
          </a:p>
          <a:p/>
          <a:p>
            <a:r>
              <a:t>Rôles en une phrase : Admin enrôle et paramètre. Opérateur triage. Consultation 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VOUS — 2 min.</a:t>
            </a:r>
          </a:p>
          <a:p/>
          <a:p>
            <a:r>
              <a:t>« Une alerte sans propriétaire est un bruit. Une alerte avec verdict et nom est un travail. »</a:t>
            </a:r>
          </a:p>
          <a:p/>
          <a:p>
            <a:r>
              <a:t>Si Mail API n'est pas branchée en prod : le dire. Laboratoire vs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ENSEMBLE — 2 min. Alternez vraiment : elle lit 1, 4, 5, 7, 10. Vous lisez 2, 3, 6, 8, 9.</a:t>
            </a:r>
          </a:p>
          <a:p/>
          <a:p>
            <a:r>
              <a:t>Rythme staccato. Pas de développement. La table EST le message : on a livré.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ENSEMBLE — 3 min chrono. Si Docker est down : sautez, cette slide raconte déjà le film.</a:t>
            </a:r>
          </a:p>
          <a:p/>
          <a:p>
            <a:r>
              <a:t>URL : http://localhost:3000  admin@cbc.cm</a:t>
            </a:r>
          </a:p>
          <a:p>
            <a:r>
              <a:t>Agent : .\scripts\run-test-agent.ps1 -Token demo-token-123</a:t>
            </a:r>
          </a:p>
          <a:p/>
          <a:p>
            <a:r>
              <a:t>Plan B : captures. Ne déboguez jamais en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VOUS — 2 min. C'est la slide qui vous gagne l'IT.</a:t>
            </a:r>
          </a:p>
          <a:p/>
          <a:p>
            <a:r>
              <a:t>« On ne vous demande pas de croire. On vous demande un fichier, une liste, et dix machines.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ENSEMBLE — 1 min. VOUS lisez 1 et 3. INTERNE lit 2. VOUS lit 4.</a:t>
            </a:r>
          </a:p>
          <a:p/>
          <a:p>
            <a:r>
              <a:t>Silence après la quatrième. Puis : « Questions. »</a:t>
            </a:r>
          </a:p>
          <a:p/>
          <a:p>
            <a:r>
              <a:t>Si plugin / IA / n8n : « Prochain chapitre. Aujourd'hui on a tenu le contrat : voir, collecter, alerter. »</a:t>
            </a:r>
          </a:p>
          <a:p/>
          <a:p>
            <a:r>
              <a:t>Remerciez. Asseyez-vous en même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projetez cette slide que si le Q&amp;A dérape. Sinon elle reste en réserve.</a:t>
            </a:r>
          </a:p>
          <a:p/>
          <a:p>
            <a:r>
              <a:t>INTERNE prend ports / scripts / EDR. VOUS prend droits / prod / actions distantes.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94360"/>
            <a:ext cx="1051560" cy="402336"/>
          </a:xfrm>
          <a:prstGeom prst="roundRect">
            <a:avLst>
              <a:gd name="adj" fmla="val 18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CBC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621792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Calibri"/>
              </a:rPr>
              <a:t>Commercial Bank Cameroun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822960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0B335"/>
                </a:solidFill>
                <a:latin typeface="Calibri"/>
              </a:rPr>
              <a:t>Direction des systèmes d'information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6984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Le parc n'est plus un dossier
de scripts.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CBC Supervision — ce qui est réellement livré.
Une restitution à deux voix : l'agent sur l'hôte, la plateforme au centre.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A88E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28032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0B335"/>
                </a:solidFill>
                <a:latin typeface="Calibri"/>
              </a:rPr>
              <a:t>VOUS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Application centrale
réception, règles, console, alertes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70916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A88E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828032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0B335"/>
                </a:solidFill>
                <a:latin typeface="Calibri"/>
              </a:rPr>
              <a:t>INTERNE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0749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Agent sur l'hôte
enrôlement, battement, métriques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601968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CBC Supervision  ·  Restitution IT  ·  Ce qui est livré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D0B335"/>
                </a:solidFill>
                <a:latin typeface="Calibri"/>
              </a:rPr>
              <a:t>1  / 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LE PACTE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9509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Comment on va parler — et ce qu'on ne vend pas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95560" y="16459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16459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20617"/>
                </a:solidFill>
                <a:latin typeface="Calibri"/>
              </a:rPr>
              <a:t>ENSEMBLE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01968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Restitution IT  ·  Ce qui est livré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2  /  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53312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1609344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60934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1554480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25 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1920240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Pas un catalogue de sprints. Une histoire : hôte → fil → écran.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523744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2779776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77977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2724912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Deux voix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090672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L'interne tient l'agent. Vous tenez le centre. On se coupe net, on se relance.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694176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395020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95020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895344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Honnêteté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261104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Dix points livrés, démontrables. Pas d'écran qui affirme ce qui n'existe pas.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864608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512064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1206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065776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Une question pour vous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431536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À la fin : ce dont l'IT a besoin de nous, et ce dont nous avons besoin de vous.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POURQUOI ON CONSTRUIT 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9509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Superviser un parc bancaire dans le noir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95560" y="16459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16459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20617"/>
                </a:solidFill>
                <a:latin typeface="Calibri"/>
              </a:rPr>
              <a:t>VOUS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01968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Restitution IT  ·  Ce qui est livré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3  /  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53312"/>
            <a:ext cx="553212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353312"/>
            <a:ext cx="73152" cy="48920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1481328"/>
            <a:ext cx="5212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Ce que l'IT vivait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1810512"/>
            <a:ext cx="5166360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Un parc hétérogène : Windows, Linux, parfois macOS — serveurs et postes d'agence.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Des scripts PowerShell dispersés, chacun avec son JSON, sa cadence, son oubli.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Pas de photo unique. L'incident arrive par téléphone. La config se fait machine par machine.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En banque, ça n'est pas un inconfort : c'est de la disponibilité, de l'audit, de la gravité COBAC.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353312"/>
            <a:ext cx="534924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353312"/>
            <a:ext cx="73152" cy="48920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481328"/>
            <a:ext cx="5029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Ce que ça coûte vraiment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1810512"/>
            <a:ext cx="4983480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MTTR trop long : on cherche encore l'hôte pendant que le métier attend.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Faux calme la nuit : un poste éteint n'est pas un serveur mort — encore faut-il le distinguer.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Dette opérationnelle : personne n'ose toucher le script de l'autre.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Et surtout : pas de preuve. Pas d'historique. Pas de « depuis quand ».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LA PROMESSE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9509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Un agent. Un centre. Une console.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95560" y="16459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16459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20617"/>
                </a:solidFill>
                <a:latin typeface="Calibri"/>
              </a:rPr>
              <a:t>VOUS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01968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Restitution IT  ·  Ce qui est livré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4  /  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17320"/>
            <a:ext cx="361188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17320"/>
            <a:ext cx="3611880" cy="9144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1664208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0B335"/>
                </a:solidFill>
                <a:latin typeface="Calibri"/>
              </a:rPr>
              <a:t>SUR L'HÔTE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1993392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20617"/>
                </a:solidFill>
                <a:latin typeface="Calibri"/>
              </a:rPr>
              <a:t>L'agent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2606040"/>
            <a:ext cx="3154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Un processus léger. Il sait qui il est. Il mesure. Il appelle. Il n'écoute personne.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17320"/>
            <a:ext cx="361188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417320"/>
            <a:ext cx="3611880" cy="9144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1664208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AU CENTRE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1993392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20617"/>
                </a:solidFill>
                <a:latin typeface="Calibri"/>
              </a:rPr>
              <a:t>La plateforme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2606040"/>
            <a:ext cx="3154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Elle authentifie, stocke, compare aux seuils, notifie, journalise. Source de vérité.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417320"/>
            <a:ext cx="361188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1417320"/>
            <a:ext cx="3611880" cy="91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1896" y="1664208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  <a:latin typeface="Calibri"/>
              </a:rPr>
              <a:t>DEVANT L'OPÉRATEUR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1993392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20617"/>
                </a:solidFill>
                <a:latin typeface="Calibri"/>
              </a:rPr>
              <a:t>La console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2606040"/>
            <a:ext cx="3154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Tableau de bord, parc, alerte, paramétrage. Jamais un accès direct à la machine.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5778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Règle d'or : l'agent ouvre la connexion (HTTPS). Rien n'écoute sur le poste pour nous. Le firewall de l'hôte reste fermé.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0B335"/>
                </a:solidFill>
                <a:latin typeface="Calibri"/>
              </a:rPr>
              <a:t>RELAIS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L'agent — ce qui vit sur la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Elle va vous raconter comment un poste rejoint le parc, reste vivant, et se tait proprement.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2011680" cy="384048"/>
          </a:xfrm>
          <a:prstGeom prst="roundRect">
            <a:avLst>
              <a:gd name="adj" fmla="val 4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2011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20617"/>
                </a:solidFill>
                <a:latin typeface="Calibri"/>
              </a:rPr>
              <a:t>INTERNE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CBC Supervision  ·  Restitution IT  ·  Ce qui est livré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D0B335"/>
                </a:solidFill>
                <a:latin typeface="Calibri"/>
              </a:rPr>
              <a:t>5  / 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L'AGENT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9509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Ce qu'il est — et ce qu'il refuse d'être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95560" y="16459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16459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20617"/>
                </a:solidFill>
                <a:latin typeface="Calibri"/>
              </a:rPr>
              <a:t>INTERNE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01968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Restitution IT  ·  Ce qui est livré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6  /  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53312"/>
            <a:ext cx="5532120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353312"/>
            <a:ext cx="73152" cy="2176272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1481328"/>
            <a:ext cx="5212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Un seul par hôte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1810512"/>
            <a:ext cx="516636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Un verrou empêche un second processus. Deux agents, c'est compter deux fois et alerter faux.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53312"/>
            <a:ext cx="5532120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53312"/>
            <a:ext cx="73152" cy="2176272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481328"/>
            <a:ext cx="5212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Identité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1810512"/>
            <a:ext cx="516636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Un machine_id survit au redémarrage. Réinstaller met à jour la fiche — ça ne crée pas un jumeau.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85032"/>
            <a:ext cx="5532120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685032"/>
            <a:ext cx="73152" cy="217627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813048"/>
            <a:ext cx="5212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Il appelle, il n'écoute pas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142232"/>
            <a:ext cx="516636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HTTPS sortant. Pas de port ouvert. La plateforme ne « ping » pas l'hôte.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685032"/>
            <a:ext cx="5532120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685032"/>
            <a:ext cx="73152" cy="217627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3813048"/>
            <a:ext cx="5212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Pas un shell distant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142232"/>
            <a:ext cx="516636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Collecter, battre, se désinstaller. Pas d'ordre de redémarrer un service depuis ici.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L'AGENT  ·  POINT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9509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Enrôlement : le poste obtient son badge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95560" y="16459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16459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20617"/>
                </a:solidFill>
                <a:latin typeface="Calibri"/>
              </a:rPr>
              <a:t>INTERNE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01968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Restitution IT  ·  Ce qui est livré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7  /  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53312"/>
            <a:ext cx="361188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4088" y="1536192"/>
            <a:ext cx="438912" cy="292608"/>
          </a:xfrm>
          <a:prstGeom prst="roundRect">
            <a:avLst>
              <a:gd name="adj" fmla="val 4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1536192"/>
            <a:ext cx="43891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20617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196596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20617"/>
                </a:solidFill>
                <a:latin typeface="Calibri"/>
              </a:rPr>
              <a:t>L'admin, au centre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6974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Émet un jeton depuis Paramètres.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Usage unique, avec échéance.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On ne le grave jamais dans le binaire public.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353312"/>
            <a:ext cx="361188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98848" y="1536192"/>
            <a:ext cx="438912" cy="292608"/>
          </a:xfrm>
          <a:prstGeom prst="roundRect">
            <a:avLst>
              <a:gd name="adj" fmla="val 4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1536192"/>
            <a:ext cx="43891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20617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196596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20617"/>
                </a:solidFill>
                <a:latin typeface="Calibri"/>
              </a:rPr>
              <a:t>L'agent, sur l'hôte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6974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Envoie jeton + machine_id + nom + OS + IP.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C'est le seul appel sans badge.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Un refus n'écrit rien sur le disque.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353312"/>
            <a:ext cx="361188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93608" y="1536192"/>
            <a:ext cx="438912" cy="292608"/>
          </a:xfrm>
          <a:prstGeom prst="roundRect">
            <a:avLst>
              <a:gd name="adj" fmla="val 4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8" y="1536192"/>
            <a:ext cx="43891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20617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196596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20617"/>
                </a:solidFill>
                <a:latin typeface="Calibri"/>
              </a:rPr>
              <a:t>La plateforme répond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26974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Consomme le jeton — il ne se réutilise pas.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Crée ou met à jour la fiche (même machine_id).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Rend agent_id + clé. La clé ne s'imprime pas dans les journaux.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L'AGENT  ·  POINTS 5 ET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9509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Il frappe. S'il se tait, on le sait.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95560" y="16459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16459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20617"/>
                </a:solidFill>
                <a:latin typeface="Calibri"/>
              </a:rPr>
              <a:t>INTERNE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01968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Restitution IT  ·  Ce qui est livré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8  /  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53312"/>
            <a:ext cx="553212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353312"/>
            <a:ext cx="73152" cy="489204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1481328"/>
            <a:ext cx="5212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Le battement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1810512"/>
            <a:ext cx="5166360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Toutes les ~30 secondes : CPU, RAM, disques, faits d'hôte relus.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La première mesure CPU n'est plus un faux 100 % au démarrage — piège classique de psutil.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L'adresse IP repart à chaque cycle : un poste DHCP ne reste pas figé à l'IP du lancement.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La plateforme répond dans le battement : qui elle croit qu'il est, l'écart d'horloge, depuis quand le silence a cessé.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353312"/>
            <a:ext cx="534924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353312"/>
            <a:ext cx="73152" cy="489204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481328"/>
            <a:ext cx="5029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La coupure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1810512"/>
            <a:ext cx="4983480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Si le centre est injoignable : recul progressif (5 s, 10 s… plafond). Tout le parc ne martèle pas à la seconde.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Seul un 401 = perte d'identité. Un 403 (révoqué) ne se réenrôle pas tout seul — ce serait rentrer par la fenêtre.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Honnêteté : on reprend le contact, on ne rejoue pas encore 24 h d'historique. Ça viendra, proprement.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L'AGENT  ·  POINTS 4, 6,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9509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Il se paramètre, il se retire, il se montre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95560" y="16459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16459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20617"/>
                </a:solidFill>
                <a:latin typeface="Calibri"/>
              </a:rPr>
              <a:t>INTERNE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01968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Restitution IT  ·  Ce qui est livré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9  /  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53312"/>
            <a:ext cx="111556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1673352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67335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609344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Plan de mesures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039112"/>
            <a:ext cx="9601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Le centre pousse, dans la réponse au battement, ce que cet hôte doit mesurer. L'agent accuse. Plus de YAML édité à la main sur 128 postes.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53512"/>
            <a:ext cx="111556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3273552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27355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209544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Désinstallation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639312"/>
            <a:ext cx="9601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Une commande locale. L'hôte prévient le centre, puis s'efface. Le parc ne garde pas des fantômes « en ligne ».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553712"/>
            <a:ext cx="111556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4873752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87375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09744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Où il tourne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39512"/>
            <a:ext cx="9601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Service Windows, tâche, console. La fiche le dit. On ne cherche plus le processus à tâtons sur le poste.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0B335"/>
                </a:solidFill>
                <a:latin typeface="Calibri"/>
              </a:rPr>
              <a:t>RELAIS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Le centre — ce que l'opérateur voit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Réception, vérité d'inventaire, seuils, courriel, qui a le droit de quoi.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2011680" cy="384048"/>
          </a:xfrm>
          <a:prstGeom prst="roundRect">
            <a:avLst>
              <a:gd name="adj" fmla="val 4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2011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20617"/>
                </a:solidFill>
                <a:latin typeface="Calibri"/>
              </a:rPr>
              <a:t>VOUS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CBC Supervision  ·  Restitution IT  ·  Ce qui est livré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D0B335"/>
                </a:solidFill>
                <a:latin typeface="Calibri"/>
              </a:rPr>
              <a:t>10  / 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LA PLATEFORME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9509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Ce qui tourne une fois le message reçu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95560" y="16459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16459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20617"/>
                </a:solidFill>
                <a:latin typeface="Calibri"/>
              </a:rPr>
              <a:t>VOUS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01968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Restitution IT  ·  Ce qui est livré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11  /  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1732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55448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011680"/>
            <a:ext cx="2468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020617"/>
                </a:solidFill>
                <a:latin typeface="Calibri"/>
              </a:rPr>
              <a:t>FastAPI
auth agent + JWT humains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41732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55448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Inventaire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011680"/>
            <a:ext cx="2468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PostgreSQL
fiches, alertes, audit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41732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5448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Historique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011680"/>
            <a:ext cx="2468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020617"/>
                </a:solidFill>
                <a:latin typeface="Calibri"/>
              </a:rPr>
              <a:t>VictoriaMetrics
courbes dans le temps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41732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55448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Console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011680"/>
            <a:ext cx="2468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React
situation, parc, alertes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703320"/>
            <a:ext cx="1115568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8587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20617"/>
                </a:solidFill>
                <a:latin typeface="Calibri"/>
              </a:rPr>
              <a:t>Ce que ça change pour l'exploitation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297680"/>
            <a:ext cx="10515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Les agents et les humains n'utilisent pas le même login. Clé d'agent ≠ mot de passe opérateur.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Chaque écriture sensible laisse une trace (audit). On peut répondre « qui a révoqué cet hôte, et quand ».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Docker Compose en laboratoire : Postgres, Redis, métriques, API, dashboard — une commande pour tout lever.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On n'ouvre pas 6379/5432 sur le LAN. Boucle locale. La console parle à l'API, pas à la base.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LA CONSOLE  ·  POINTS 2, 3,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9509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Quatre gestes d'un matin d'opérateur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95560" y="16459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16459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20617"/>
                </a:solidFill>
                <a:latin typeface="Calibri"/>
              </a:rPr>
              <a:t>VOUS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01968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Restitution IT  ·  Ce qui est livré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12  /  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298448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1554480"/>
            <a:ext cx="2331720" cy="585216"/>
          </a:xfrm>
          <a:prstGeom prst="roundRect">
            <a:avLst>
              <a:gd name="adj" fmla="val 12000"/>
            </a:avLst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554480"/>
            <a:ext cx="233172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Tableau de bord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1499616"/>
            <a:ext cx="8138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Parc vivant / silencieux, critiques ouvertes, santé du canal mail. On sait en 5 secondes si la nuit a été calme.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505456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2761488"/>
            <a:ext cx="2331720" cy="585216"/>
          </a:xfrm>
          <a:prstGeom prst="roundRect">
            <a:avLst>
              <a:gd name="adj" fmla="val 12000"/>
            </a:avLst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761488"/>
            <a:ext cx="233172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Parc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706624"/>
            <a:ext cx="8138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Chaque hôte : OS, dernier contact, jauges. On ouvre une fiche, pas un RDP « pour voir ».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12464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968496"/>
            <a:ext cx="2331720" cy="585216"/>
          </a:xfrm>
          <a:prstGeom prst="roundRect">
            <a:avLst>
              <a:gd name="adj" fmla="val 12000"/>
            </a:avLst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968496"/>
            <a:ext cx="233172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Fiche hôte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913632"/>
            <a:ext cx="8138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Ce qui est constaté (nom, OS) ne se « corrige » pas à la main. Ce qui est attribué (responsable, équipe, VLAN d'exploitation) se corrige. L'écart VLAN constaté / attribué se voit.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919472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5175504"/>
            <a:ext cx="2331720" cy="585216"/>
          </a:xfrm>
          <a:prstGeom prst="roundRect">
            <a:avLst>
              <a:gd name="adj" fmla="val 12000"/>
            </a:avLst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175504"/>
            <a:ext cx="233172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Alertes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5120640"/>
            <a:ext cx="8138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Vérifier, valider, prendre en charge. Un tiroir, un verdict, un nom. Plus une boîte mail collective sans propriétaire.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LA PLATEFORME  ·  POINT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9509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Une alerte qui trouve quelqu'un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95560" y="16459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16459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20617"/>
                </a:solidFill>
                <a:latin typeface="Calibri"/>
              </a:rPr>
              <a:t>VOUS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01968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Restitution IT  ·  Ce qui est livré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13  /  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53312"/>
            <a:ext cx="553212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353312"/>
            <a:ext cx="73152" cy="48920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1481328"/>
            <a:ext cx="5212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Règles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1810512"/>
            <a:ext cx="5166360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CPU, RAM, disque : pas un pic d'une seconde. Une durée. Un spike n'ouvre pas une crise.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Quatre gravités. Cycle ouvert → pris en charge → résolu.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Fenêtres de maintenance distinctes des horaires de poste : un PC éteint à 20 h n'est pas un incident.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Gabarit de courriel par type de vérification — pas un mail générique « alerte système 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353312"/>
            <a:ext cx="534924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353312"/>
            <a:ext cx="73152" cy="489204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481328"/>
            <a:ext cx="5029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Canaux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1810512"/>
            <a:ext cx="4983480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Canal Lot 1 : API Mail CBC (clé, statut du canal visible dans la console).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En plus : webhook HMAC signé — pour n8n ou un outil interne, sans mot de passe en clair dans l'URL.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Ce qui n'est pas vendu aujourd'hui : ServiceNow, Teams, PagerDuty. On a le tuyau propre. Le métier choisira l'outil.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PREUVE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9509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Dix points livrés — pas un roadmap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95560" y="16459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16459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20617"/>
                </a:solidFill>
                <a:latin typeface="Calibri"/>
              </a:rPr>
              <a:t>ENSEMBLE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01968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Restitution IT  ·  Ce qui est livré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14  /  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261872"/>
            <a:ext cx="11155680" cy="384048"/>
          </a:xfrm>
          <a:prstGeom prst="roundRect">
            <a:avLst>
              <a:gd name="adj" fmla="val 4000"/>
            </a:avLst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26187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D0B335"/>
                </a:solidFill>
                <a:latin typeface="Calibri"/>
              </a:rPr>
              <a:t>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1261872"/>
            <a:ext cx="3383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D0B335"/>
                </a:solidFill>
                <a:latin typeface="Calibri"/>
              </a:rPr>
              <a:t>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261872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D0B335"/>
                </a:solidFill>
                <a:latin typeface="Calibri"/>
              </a:rPr>
              <a:t>Voix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261872"/>
            <a:ext cx="4572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D0B335"/>
                </a:solidFill>
                <a:latin typeface="Calibri"/>
              </a:rPr>
              <a:t>Preuve en une ligne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66420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664208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20617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1664208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Enrôlement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1664208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INTERNE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664208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Jeton unique, fiche unique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121408"/>
            <a:ext cx="1115568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121408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20617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2121408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Champs éditables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121408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VOUS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121408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L'UI ne propose que ce que l'API accepte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57860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578608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20617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2578608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Responsable / équipe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578608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VOUS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578608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Plus de « non attribué » en lecture seule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035808"/>
            <a:ext cx="1115568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035808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20617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3035808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Désinstallation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3035808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INTERNE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035808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L'hôte prévient avant de partir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49300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493008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20617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3493008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Reprise de contact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3493008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INTERNE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493008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Un battement ramène l'hôte vivant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950208"/>
            <a:ext cx="1115568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950208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20617"/>
                </a:solidFill>
                <a:latin typeface="Calibr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3950208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Plan de mesures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3950208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VOUS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3950208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Poussé au battement, accusé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40740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407408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20617"/>
                </a:solidFill>
                <a:latin typeface="Calibri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4407408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Métriques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6320" y="4407408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INTERNE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4407408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Collecte réelle, inventaire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4864608"/>
            <a:ext cx="1115568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864608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20617"/>
                </a:solidFill>
                <a:latin typeface="Calibri"/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80160" y="4864608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Mail / webhook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46320" y="4864608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VOUS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4864608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Gabarit + signature HMAC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532180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5321808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20617"/>
                </a:solidFill>
                <a:latin typeface="Calibri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80160" y="5321808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Prise en charge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46320" y="5321808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VOUS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66560" y="5321808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Verdict, attribution, tiroir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5779008"/>
            <a:ext cx="1115568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5779008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20617"/>
                </a:solidFill>
                <a:latin typeface="Calibri"/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80160" y="5779008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Runtime 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6320" y="5779008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INTERNE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0" y="5779008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Où et comment l'agent tourne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PREUVE VIVANTE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9509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Trois minutes, pas un tour du produit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95560" y="16459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16459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20617"/>
                </a:solidFill>
                <a:latin typeface="Calibri"/>
              </a:rPr>
              <a:t>ENSEMBLE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01968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Restitution IT  ·  Ce qui est livré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15  /  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53312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1609344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60934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517904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20617"/>
                </a:solidFill>
                <a:latin typeface="Calibri"/>
              </a:rPr>
              <a:t>Console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536192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VOUS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1883664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Login admin. Tableau de bord. Un chiffre : hôtes vus, alertes ouvertes.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523744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2779776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77977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688336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20617"/>
                </a:solidFill>
                <a:latin typeface="Calibri"/>
              </a:rPr>
              <a:t>Enrôler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706624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INTERNE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054096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Jeton labo. Agent de démo. Le poste apparaît. Pas de magie : un POST /enroll.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694176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395020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95020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858768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20617"/>
                </a:solidFill>
                <a:latin typeface="Calibri"/>
              </a:rPr>
              <a:t>Fiche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877056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VOUS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224528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Constats verrouillés, responsable, runtime. Ouvrir une alerte, la prendre en charge.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864608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512064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1206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02920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20617"/>
                </a:solidFill>
                <a:latin typeface="Calibri"/>
              </a:rPr>
              <a:t>Arrêt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047488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INTERNE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394960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Couper l'agent. Le bandeau hors ligne. Relancer : un battement suffit.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HONNÊTETÉ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9509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Ce qui n'est pas dans cette restitution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95560" y="16459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16459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20617"/>
                </a:solidFill>
                <a:latin typeface="Calibri"/>
              </a:rPr>
              <a:t>VOUS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01968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Restitution IT  ·  Ce qui est livré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16  /  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53312"/>
            <a:ext cx="553212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353312"/>
            <a:ext cx="73152" cy="48920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1481328"/>
            <a:ext cx="5212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Pas encore — et on le 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1810512"/>
            <a:ext cx="5166360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Rejeu de 24 h de métriques après une longue coupure (tampon disque propre).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Actions distantes (redémarrer un service) : volontairement refusées. L'hôte n'est pas un shell.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SSO entreprise, n8n en boucle fermée, ITSM, HA 5 000 hôtes.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Listes officielles CBC (SWIFT, services métier) : placeholders, pas l'inventaire de production.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353312"/>
            <a:ext cx="534924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353312"/>
            <a:ext cx="73152" cy="48920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481328"/>
            <a:ext cx="5029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Ce dont on a besoin de vous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1810512"/>
            <a:ext cx="4983480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Fichier réseau sous-réseau → VLAN → libellé — pas un Excel « nom d'hôte / VLAN » qui périme au premier rebranchement.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Listes de services et fichiers à surveiller, signées exploitation.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URL et clé Mail CBC pour sortir du laboratoire.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Un pilote : 5 à 10 machines, dont un serveur métier et un poste d'agence.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0B335"/>
                </a:solidFill>
                <a:latin typeface="Calibri"/>
              </a:rPr>
              <a:t>À EMPORTER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Quatre phrases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91640"/>
            <a:ext cx="9875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On remplace des scripts orphelins par un agent, un centre, une console.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651760"/>
            <a:ext cx="9875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L'agent obtient un badge, mesure l'hôte, frappe en HTTPS — il n'ouvre aucun 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11880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611880"/>
            <a:ext cx="9875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Le centre authentifie, historise, alerte, attribue. L'opérateur travaille sur des fiches, pas des RDP.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572000"/>
            <a:ext cx="9875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Dix points sont livrés et démontrables. Le reste s'ajoute ; on ne le mime pas.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Questions  ·  Agent → interne   ·   Console et règles → nous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601968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CBC Supervision  ·  Restitution IT  ·  Ce qui est livré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D0B335"/>
                </a:solidFill>
                <a:latin typeface="Calibri"/>
              </a:rPr>
              <a:t>17  / 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SI ON VOUS COUPE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9509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Réponses courtes — à deux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95560" y="16459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16459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20617"/>
                </a:solidFill>
                <a:latin typeface="Calibri"/>
              </a:rPr>
              <a:t>ENSEMBLE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01968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Restitution IT  ·  Ce qui est livré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18  /  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298448"/>
            <a:ext cx="55321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426464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20617"/>
                </a:solidFill>
                <a:latin typeface="Calibri"/>
              </a:rPr>
              <a:t>C'est un EDR / un antivirus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1865376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Non. On ne chasse pas le malware. On dit si la machine est vivante et chargée.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98448"/>
            <a:ext cx="55321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426464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20617"/>
                </a:solidFill>
                <a:latin typeface="Calibri"/>
              </a:rPr>
              <a:t>Vous ouvrez un port sur le poste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865376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Non. Sortant 443 uniquement. C'est un choix de sécurité, pas un raccourci.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926080"/>
            <a:ext cx="55321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054096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20617"/>
                </a:solidFill>
                <a:latin typeface="Calibri"/>
              </a:rPr>
              <a:t>On peut redémarrer un service à distance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493008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Pas maintenant. L'agent refuse. Quand ce sera le cas, il y aura une approbation humaine.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926080"/>
            <a:ext cx="55321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054096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20617"/>
                </a:solidFill>
                <a:latin typeface="Calibri"/>
              </a:rPr>
              <a:t>Et les scripts PowerShell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493008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On les éteint quand la même vérification est livrée et vue en production. Pas avant.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553712"/>
            <a:ext cx="55321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4681728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20617"/>
                </a:solidFill>
                <a:latin typeface="Calibri"/>
              </a:rPr>
              <a:t>Qui a les droits 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5120640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Admin, opérateur, consultation. Les agents n'utilisent pas un compte utilisateur.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553712"/>
            <a:ext cx="55321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4681728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20617"/>
                </a:solidFill>
                <a:latin typeface="Calibri"/>
              </a:rPr>
              <a:t>C'est en production CBC 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5120640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Laboratoire démontrable. Le pilote, c'est la prochaine décision — la vôtre.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